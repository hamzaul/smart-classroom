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6F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4F6FB"/>
                </a:solidFill>
                <a:latin typeface="Arial"/>
              </a:rPr>
              <a:t>Attention Engine Output on Test Signal Profiles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Score</c:v>
                </c:pt>
              </c:strCache>
            </c:strRef>
          </c:tx>
          <c:spPr>
            <a:solidFill>
              <a:srgbClr val="8B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6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Fully Attentive</c:v>
                  </c:pt>
                  <c:pt idx="1">
                    <c:v>Distracted</c:v>
                  </c:pt>
                  <c:pt idx="2">
                    <c:v>Drowsy / Yawning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92.4</c:v>
                </c:pt>
                <c:pt idx="1">
                  <c:v>58</c:v>
                </c:pt>
                <c:pt idx="2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6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4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232B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7315200" cy="7315200"/>
          </a:xfrm>
          <a:prstGeom prst="ellipse">
            <a:avLst/>
          </a:prstGeom>
          <a:solidFill>
            <a:srgbClr val="6D5EF5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Engagement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Tracking System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 •  Deep Learning  •  IoT  •  Full-Stack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 |  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invisible at classroom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objective signal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 rely on a visual scan of the room — subjective, unrecorded, and impossible to scale past ~20-30 students.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Disengagement (drowsiness, distraction) is noticed only after it has already cost learning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2104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longitudinal data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logged, so patterns across a semester — or across a whole class — are invisible.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sets out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751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5E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multi-face detection &amp; landmark tracking on a standard webcam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980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5E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weighted attention-scoring engine — not hardcoded thresholds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210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5E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attendance via face recognition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43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5EF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Cloud-persisted analytics (Firestore) for longitudinal insight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2669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5EF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07492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dashboard for instructors, plus optional IoT hardware alerts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Layered, dependency-injected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221992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48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Capture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2221992"/>
            <a:ext cx="146304" cy="146304"/>
          </a:xfrm>
          <a:prstGeom prst="ellipse">
            <a:avLst/>
          </a:prstGeom>
          <a:solidFill>
            <a:srgbClr val="6D5EF5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2148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0944" y="28803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REST 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80944" y="3566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196596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221992"/>
            <a:ext cx="146304" cy="146304"/>
          </a:xfrm>
          <a:prstGeom prst="ellipse">
            <a:avLst/>
          </a:prstGeom>
          <a:solidFill>
            <a:srgbClr val="22D3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148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Modules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28803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Detect/Recognize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30368" y="3566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Track • Head Pose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30368" y="42519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Sleep/Yawn • Attention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96912" y="196596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221992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35824" y="2148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79792" y="28803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79792" y="3566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• 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46336" y="196596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47504" y="222199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9985248" y="2148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29216" y="28803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29216" y="3566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• Buzzer • LCD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06040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55464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04888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354312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weighted, configurable attention score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signals, one score (0-100)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Aspect Ratio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807208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807208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2D3B6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Pose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3191256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3191256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312724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5112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Presence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37560" y="3575304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575304"/>
            <a:ext cx="1440180" cy="18288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51129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8953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Duration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959352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3959352"/>
            <a:ext cx="144018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38953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279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Rate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37560" y="4343400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4343400"/>
            <a:ext cx="960120" cy="182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42793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Yawn Count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37560" y="4727448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4727448"/>
            <a:ext cx="960120" cy="182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46634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047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37560" y="5111496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232B3D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5111496"/>
            <a:ext cx="960120" cy="182880"/>
          </a:xfrm>
          <a:prstGeom prst="roundRect">
            <a:avLst>
              <a:gd name="adj" fmla="val 50000"/>
            </a:avLst>
          </a:prstGeom>
          <a:solidFill>
            <a:srgbClr val="9AA4BF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50474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1965960"/>
            <a:ext cx="5623560" cy="3794760"/>
          </a:xfrm>
          <a:prstGeom prst="roundRect">
            <a:avLst>
              <a:gd name="adj" fmla="val 192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Σ w</a:t>
            </a:r>
            <a:pPr indent="0" marL="0">
              <a:buNone/>
            </a:pPr>
            <a:r>
              <a:rPr lang="en-US" sz="1300" b="1" baseline="-400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00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</a:t>
            </a:r>
            <a:pPr indent="0" marL="0">
              <a:buNone/>
            </a:pPr>
            <a:r>
              <a:rPr lang="en-US" sz="1300" b="1" baseline="-400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00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  subject to  Σ w</a:t>
            </a:r>
            <a:pPr indent="0" marL="0">
              <a:buNone/>
            </a:pPr>
            <a:r>
              <a:rPr lang="en-US" sz="1300" b="1" baseline="-400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000" b="1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09360" y="3474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raw signal Si is normalized to 0-100 by a piecewise-linear function against configured thresholds, then combined by weight and smoothed across frames by exponential moving average — preventing single-frame jitter from swinging the score.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4892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2D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weights &amp; thresholds live in attention_weights.json — retune without touching code.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for instructors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smart-classroom/research_paper/presentation/dashboard_refer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03120"/>
            <a:ext cx="1078992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ESP32-driven physical alerts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ESP32 DevKit 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3x status LED (green / yellow / red)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Active piezo buzzer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16x2 I2C LCD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Reserved GPIO for future servo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5577840" cy="3794760"/>
          </a:xfrm>
          <a:prstGeom prst="roundRect">
            <a:avLst>
              <a:gd name="adj" fmla="val 1928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Command Protocol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5029200" cy="2286000"/>
          </a:xfrm>
          <a:prstGeom prst="rect">
            <a:avLst/>
          </a:prstGeom>
          <a:solidFill>
            <a:srgbClr val="0D1220"/>
          </a:solidFill>
          <a:ln w="12700">
            <a:solidFill>
              <a:srgbClr val="232B3D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"cmd": "alert",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"critical",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"led": "red",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"buzzer_ms": 800,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"lcd_line1": "ALERT",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"lcd_line2": "Low Attention"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over WiFi to the ESP32's local HTTP server — fails gracefully (logged, non-fatal) if hardware is offline.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between attention states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96596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passing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under test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4754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0" y="5303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open bugs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Quantized on-device models for classroom-local hardware without a GPU server.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671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Servo-Actuated Camera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6243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Multi-angle coverage — firmware protocol already reserves a servo command slot.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87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Semester-Long Trends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engagement modelling correlated with assessment outcomes.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8862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31826"/>
          </a:solidFill>
          <a:ln w="12700">
            <a:solidFill>
              <a:srgbClr val="232B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0873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Privacy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5445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or on-device face-encoding storage beyond server-side Firestore.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6D5EF5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 — AI-Powered Engagement &amp; Attention Tracking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2026-08-08T12:35:48Z</dcterms:created>
  <dcterms:modified xsi:type="dcterms:W3CDTF">2026-08-08T12:35:48Z</dcterms:modified>
</cp:coreProperties>
</file>